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9456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0" y="228600"/>
            <a:ext cx="15544800" cy="1417320"/>
          </a:xfrm>
          <a:prstGeom prst="rect">
            <a:avLst/>
          </a:prstGeom>
          <a:noFill/>
        </p:spPr>
        <p:txBody>
          <a:bodyPr wrap="square" lIns="73152" rIns="73152" tIns="36576" bIns="36576">
            <a:spAutoFit/>
          </a:bodyPr>
          <a:lstStyle/>
          <a:p>
            <a:pPr algn="ctr">
              <a:lnSpc>
                <a:spcPct val="95000"/>
              </a:lnSpc>
              <a:spcAft>
                <a:spcPts val="0"/>
              </a:spcAft>
            </a:pPr>
            <a:r>
              <a:rPr sz="4600" b="1" i="0">
                <a:solidFill>
                  <a:srgbClr val="1A1A1A"/>
                </a:solidFill>
                <a:latin typeface="Calibri"/>
              </a:rPr>
              <a:t>AI-POWERED SUPPORT CHATBOT FOR HIGH-PERFORMANCE COMPUTING</a:t>
            </a:r>
          </a:p>
        </p:txBody>
      </p:sp>
      <p:sp>
        <p:nvSpPr>
          <p:cNvPr id="3" name="TextBox 2"/>
          <p:cNvSpPr txBox="1"/>
          <p:nvPr/>
        </p:nvSpPr>
        <p:spPr>
          <a:xfrm>
            <a:off x="3200400" y="1719072"/>
            <a:ext cx="15544800" cy="457200"/>
          </a:xfrm>
          <a:prstGeom prst="rect">
            <a:avLst/>
          </a:prstGeom>
          <a:noFill/>
        </p:spPr>
        <p:txBody>
          <a:bodyPr wrap="square" lIns="73152" rIns="73152" tIns="36576" bIns="36576">
            <a:spAutoFit/>
          </a:bodyPr>
          <a:lstStyle/>
          <a:p>
            <a:pPr algn="ctr">
              <a:lnSpc>
                <a:spcPct val="110000"/>
              </a:lnSpc>
              <a:spcAft>
                <a:spcPts val="0"/>
              </a:spcAft>
            </a:pPr>
            <a:r>
              <a:rPr sz="2700" b="1" i="0">
                <a:solidFill>
                  <a:srgbClr val="1A1A1A"/>
                </a:solidFill>
                <a:latin typeface="Calibri"/>
              </a:rPr>
              <a:t>BY STUDENT 1¹, STUDENT 2², STUDENT 3³, STUDENT 4⁴, STUDENT 5⁵, STUDENT 6⁶, STUDENT 7⁷</a:t>
            </a:r>
          </a:p>
        </p:txBody>
      </p:sp>
      <p:sp>
        <p:nvSpPr>
          <p:cNvPr id="4" name="TextBox 3"/>
          <p:cNvSpPr txBox="1"/>
          <p:nvPr/>
        </p:nvSpPr>
        <p:spPr>
          <a:xfrm>
            <a:off x="3200400" y="2176272"/>
            <a:ext cx="15544800" cy="365760"/>
          </a:xfrm>
          <a:prstGeom prst="rect">
            <a:avLst/>
          </a:prstGeom>
          <a:noFill/>
        </p:spPr>
        <p:txBody>
          <a:bodyPr wrap="square" lIns="73152" rIns="73152" tIns="36576" bIns="36576">
            <a:spAutoFit/>
          </a:bodyPr>
          <a:lstStyle/>
          <a:p>
            <a:pPr algn="ctr">
              <a:lnSpc>
                <a:spcPct val="110000"/>
              </a:lnSpc>
              <a:spcAft>
                <a:spcPts val="0"/>
              </a:spcAft>
            </a:pPr>
            <a:r>
              <a:rPr sz="2400" b="1" i="0">
                <a:solidFill>
                  <a:srgbClr val="1A1A1A"/>
                </a:solidFill>
                <a:latin typeface="Calibri"/>
              </a:rPr>
              <a:t>UNDER MENTORSHIP OF MOHAMMAD FIRAS SADA⁸</a:t>
            </a:r>
          </a:p>
        </p:txBody>
      </p:sp>
      <p:sp>
        <p:nvSpPr>
          <p:cNvPr id="5" name="TextBox 4"/>
          <p:cNvSpPr txBox="1"/>
          <p:nvPr/>
        </p:nvSpPr>
        <p:spPr>
          <a:xfrm>
            <a:off x="3200400" y="2560320"/>
            <a:ext cx="15544800" cy="640080"/>
          </a:xfrm>
          <a:prstGeom prst="rect">
            <a:avLst/>
          </a:prstGeom>
          <a:noFill/>
        </p:spPr>
        <p:txBody>
          <a:bodyPr wrap="square" lIns="73152" rIns="73152" tIns="36576" bIns="36576">
            <a:spAutoFit/>
          </a:bodyPr>
          <a:lstStyle/>
          <a:p>
            <a:pPr algn="ctr">
              <a:lnSpc>
                <a:spcPct val="110000"/>
              </a:lnSpc>
              <a:spcAft>
                <a:spcPts val="0"/>
              </a:spcAft>
            </a:pPr>
            <a:r>
              <a:rPr sz="1600" b="0" i="0">
                <a:solidFill>
                  <a:srgbClr val="1A1A1A"/>
                </a:solidFill>
                <a:latin typeface="Calibri"/>
              </a:rPr>
              <a:t>¹⁻⁷ [Your high schools, City, CA — one entry per student, matching the superscripts above];</a:t>
            </a:r>
          </a:p>
          <a:p>
            <a:pPr algn="ctr">
              <a:lnSpc>
                <a:spcPct val="110000"/>
              </a:lnSpc>
              <a:spcAft>
                <a:spcPts val="0"/>
              </a:spcAft>
            </a:pPr>
            <a:r>
              <a:rPr sz="1600" b="0" i="0">
                <a:solidFill>
                  <a:srgbClr val="1A1A1A"/>
                </a:solidFill>
                <a:latin typeface="Calibri"/>
              </a:rPr>
              <a:t>⁸ San Diego Supercomputer Center, University of California San Diego, La Jolla, CA 92093, USA</a:t>
            </a:r>
          </a:p>
        </p:txBody>
      </p:sp>
      <p:sp>
        <p:nvSpPr>
          <p:cNvPr id="6" name="Rectangle 5"/>
          <p:cNvSpPr/>
          <p:nvPr/>
        </p:nvSpPr>
        <p:spPr>
          <a:xfrm>
            <a:off x="640080" y="274320"/>
            <a:ext cx="2286000" cy="2286000"/>
          </a:xfrm>
          <a:prstGeom prst="rect">
            <a:avLst/>
          </a:prstGeom>
          <a:solidFill>
            <a:srgbClr val="FFFFFF"/>
          </a:solidFill>
          <a:ln w="12700">
            <a:solidFill>
              <a:srgbClr val="7070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34440"/>
            <a:ext cx="2286000" cy="731520"/>
          </a:xfrm>
          <a:prstGeom prst="rect">
            <a:avLst/>
          </a:prstGeom>
          <a:noFill/>
        </p:spPr>
        <p:txBody>
          <a:bodyPr wrap="square" lIns="73152" rIns="73152" tIns="36576" bIns="36576">
            <a:spAutoFit/>
          </a:bodyPr>
          <a:lstStyle/>
          <a:p>
            <a:pPr algn="ctr">
              <a:lnSpc>
                <a:spcPct val="110000"/>
              </a:lnSpc>
              <a:spcAft>
                <a:spcPts val="0"/>
              </a:spcAft>
            </a:pPr>
            <a:r>
              <a:rPr sz="1500" b="0" i="1">
                <a:solidFill>
                  <a:srgbClr val="707070"/>
                </a:solidFill>
                <a:latin typeface="Calibri"/>
              </a:rPr>
              <a:t>UCSD / SDSC</a:t>
            </a:r>
          </a:p>
          <a:p>
            <a:pPr algn="ctr">
              <a:lnSpc>
                <a:spcPct val="110000"/>
              </a:lnSpc>
              <a:spcAft>
                <a:spcPts val="0"/>
              </a:spcAft>
            </a:pPr>
            <a:r>
              <a:rPr sz="1500" b="0" i="1">
                <a:solidFill>
                  <a:srgbClr val="707070"/>
                </a:solidFill>
                <a:latin typeface="Calibri"/>
              </a:rPr>
              <a:t>logo here</a:t>
            </a:r>
          </a:p>
        </p:txBody>
      </p:sp>
      <p:sp>
        <p:nvSpPr>
          <p:cNvPr id="8" name="Rectangle 7"/>
          <p:cNvSpPr/>
          <p:nvPr/>
        </p:nvSpPr>
        <p:spPr>
          <a:xfrm>
            <a:off x="19019519" y="274320"/>
            <a:ext cx="2286000" cy="2286000"/>
          </a:xfrm>
          <a:prstGeom prst="rect">
            <a:avLst/>
          </a:prstGeom>
          <a:solidFill>
            <a:srgbClr val="FFFFFF"/>
          </a:solidFill>
          <a:ln w="12700">
            <a:solidFill>
              <a:srgbClr val="7070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019519" y="1234440"/>
            <a:ext cx="2286000" cy="731520"/>
          </a:xfrm>
          <a:prstGeom prst="rect">
            <a:avLst/>
          </a:prstGeom>
          <a:noFill/>
        </p:spPr>
        <p:txBody>
          <a:bodyPr wrap="square" lIns="73152" rIns="73152" tIns="36576" bIns="36576">
            <a:spAutoFit/>
          </a:bodyPr>
          <a:lstStyle/>
          <a:p>
            <a:pPr algn="ctr">
              <a:lnSpc>
                <a:spcPct val="110000"/>
              </a:lnSpc>
              <a:spcAft>
                <a:spcPts val="0"/>
              </a:spcAft>
            </a:pPr>
            <a:r>
              <a:rPr sz="1500" b="0" i="1">
                <a:solidFill>
                  <a:srgbClr val="707070"/>
                </a:solidFill>
                <a:latin typeface="Calibri"/>
              </a:rPr>
              <a:t>NRP</a:t>
            </a:r>
          </a:p>
          <a:p>
            <a:pPr algn="ctr">
              <a:lnSpc>
                <a:spcPct val="110000"/>
              </a:lnSpc>
              <a:spcAft>
                <a:spcPts val="0"/>
              </a:spcAft>
            </a:pPr>
            <a:r>
              <a:rPr sz="1500" b="0" i="1">
                <a:solidFill>
                  <a:srgbClr val="707070"/>
                </a:solidFill>
                <a:latin typeface="Calibri"/>
              </a:rPr>
              <a:t>logo here</a:t>
            </a:r>
          </a:p>
        </p:txBody>
      </p:sp>
      <p:sp>
        <p:nvSpPr>
          <p:cNvPr id="10" name="Rounded Rectangle 9"/>
          <p:cNvSpPr/>
          <p:nvPr/>
        </p:nvSpPr>
        <p:spPr>
          <a:xfrm>
            <a:off x="548640" y="3246120"/>
            <a:ext cx="10241280" cy="3383280"/>
          </a:xfrm>
          <a:prstGeom prst="roundRect">
            <a:avLst>
              <a:gd name="adj" fmla="val 35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410712"/>
            <a:ext cx="9509760" cy="548640"/>
          </a:xfrm>
          <a:prstGeom prst="rect">
            <a:avLst/>
          </a:prstGeom>
          <a:noFill/>
        </p:spPr>
        <p:txBody>
          <a:bodyPr wrap="square" lIns="73152" rIns="73152" tIns="36576" bIns="36576">
            <a:spAutoFit/>
          </a:bodyPr>
          <a:lstStyle/>
          <a:p>
            <a:pPr algn="l">
              <a:lnSpc>
                <a:spcPct val="110000"/>
              </a:lnSpc>
              <a:spcAft>
                <a:spcPts val="0"/>
              </a:spcAft>
            </a:pPr>
            <a:r>
              <a:rPr sz="3400" b="1" i="0">
                <a:solidFill>
                  <a:srgbClr val="102A54"/>
                </a:solidFill>
                <a:latin typeface="Calibri"/>
              </a:rPr>
              <a:t>INTRODUCTION</a:t>
            </a:r>
          </a:p>
        </p:txBody>
      </p:sp>
      <p:sp>
        <p:nvSpPr>
          <p:cNvPr id="12" name="TextBox 11"/>
          <p:cNvSpPr txBox="1"/>
          <p:nvPr/>
        </p:nvSpPr>
        <p:spPr>
          <a:xfrm>
            <a:off x="914400" y="4023359"/>
            <a:ext cx="9509760" cy="2468880"/>
          </a:xfrm>
          <a:prstGeom prst="rect">
            <a:avLst/>
          </a:prstGeom>
          <a:noFill/>
        </p:spPr>
        <p:txBody>
          <a:bodyPr wrap="square" lIns="73152" rIns="73152" tIns="36576" bIns="36576">
            <a:spAutoFit/>
          </a:bodyPr>
          <a:lstStyle/>
          <a:p>
            <a:pPr algn="l">
              <a:lnSpc>
                <a:spcPct val="110000"/>
              </a:lnSpc>
              <a:spcAft>
                <a:spcPts val="800"/>
              </a:spcAft>
            </a:pPr>
            <a:r>
              <a:rPr sz="2200" b="0" i="0">
                <a:solidFill>
                  <a:srgbClr val="1A1A1A"/>
                </a:solidFill>
                <a:latin typeface="Calibri"/>
              </a:rPr>
              <a:t>[OWNER: Student 7 — ~110 words]</a:t>
            </a:r>
          </a:p>
          <a:p>
            <a:pPr algn="l">
              <a:lnSpc>
                <a:spcPct val="110000"/>
              </a:lnSpc>
              <a:spcAft>
                <a:spcPts val="800"/>
              </a:spcAft>
            </a:pPr>
            <a:r>
              <a:rPr sz="2200" b="0" i="0">
                <a:solidFill>
                  <a:srgbClr val="1A1A1A"/>
                </a:solidFill>
                <a:latin typeface="Calibri"/>
              </a:rPr>
              <a:t>Set up the problem for someone who has never heard of NRP. What is the National Research Platform and who uses it? Why is finding an answer in technical documentation slow? What are large language models, and why can't you just ask ChatGPT about NRP? End on the gap your project fills.</a:t>
            </a:r>
          </a:p>
        </p:txBody>
      </p:sp>
      <p:sp>
        <p:nvSpPr>
          <p:cNvPr id="13" name="Rounded Rectangle 12"/>
          <p:cNvSpPr/>
          <p:nvPr/>
        </p:nvSpPr>
        <p:spPr>
          <a:xfrm>
            <a:off x="11155680" y="3246120"/>
            <a:ext cx="10241280" cy="3383280"/>
          </a:xfrm>
          <a:prstGeom prst="roundRect">
            <a:avLst>
              <a:gd name="adj" fmla="val 35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521440" y="3410712"/>
            <a:ext cx="9509760" cy="548640"/>
          </a:xfrm>
          <a:prstGeom prst="rect">
            <a:avLst/>
          </a:prstGeom>
          <a:noFill/>
        </p:spPr>
        <p:txBody>
          <a:bodyPr wrap="square" lIns="73152" rIns="73152" tIns="36576" bIns="36576">
            <a:spAutoFit/>
          </a:bodyPr>
          <a:lstStyle/>
          <a:p>
            <a:pPr algn="l">
              <a:lnSpc>
                <a:spcPct val="110000"/>
              </a:lnSpc>
              <a:spcAft>
                <a:spcPts val="0"/>
              </a:spcAft>
            </a:pPr>
            <a:r>
              <a:rPr sz="3400" b="1" i="0">
                <a:solidFill>
                  <a:srgbClr val="102A54"/>
                </a:solidFill>
                <a:latin typeface="Calibri"/>
              </a:rPr>
              <a:t>ABSTRACT</a:t>
            </a:r>
          </a:p>
        </p:txBody>
      </p:sp>
      <p:sp>
        <p:nvSpPr>
          <p:cNvPr id="15" name="TextBox 14"/>
          <p:cNvSpPr txBox="1"/>
          <p:nvPr/>
        </p:nvSpPr>
        <p:spPr>
          <a:xfrm>
            <a:off x="11521440" y="4023359"/>
            <a:ext cx="9509760" cy="2468880"/>
          </a:xfrm>
          <a:prstGeom prst="rect">
            <a:avLst/>
          </a:prstGeom>
          <a:noFill/>
        </p:spPr>
        <p:txBody>
          <a:bodyPr wrap="square" lIns="73152" rIns="73152" tIns="36576" bIns="36576">
            <a:spAutoFit/>
          </a:bodyPr>
          <a:lstStyle/>
          <a:p>
            <a:pPr algn="l">
              <a:lnSpc>
                <a:spcPct val="110000"/>
              </a:lnSpc>
              <a:spcAft>
                <a:spcPts val="800"/>
              </a:spcAft>
            </a:pPr>
            <a:r>
              <a:rPr sz="2200" b="0" i="0">
                <a:solidFill>
                  <a:srgbClr val="1A1A1A"/>
                </a:solidFill>
                <a:latin typeface="Calibri"/>
              </a:rPr>
              <a:t>[OWNER: Student 7 — ~110 words, five sentences, WRITTEN LAST]</a:t>
            </a:r>
          </a:p>
          <a:p>
            <a:pPr algn="l">
              <a:lnSpc>
                <a:spcPct val="110000"/>
              </a:lnSpc>
              <a:spcAft>
                <a:spcPts val="800"/>
              </a:spcAft>
            </a:pPr>
            <a:r>
              <a:rPr sz="2200" b="0" i="0">
                <a:solidFill>
                  <a:srgbClr val="1A1A1A"/>
                </a:solidFill>
                <a:latin typeface="Calibri"/>
              </a:rPr>
              <a:t>1 problem. 2 what we built. 3 how it works (retrieve, then generate). 4 the result, with a real number from the evaluation. 5 what it means. Write this only after Student 6 has the evaluation number — an abstract without a number is just a description.</a:t>
            </a:r>
          </a:p>
        </p:txBody>
      </p:sp>
      <p:sp>
        <p:nvSpPr>
          <p:cNvPr id="16" name="Rounded Rectangle 15"/>
          <p:cNvSpPr/>
          <p:nvPr/>
        </p:nvSpPr>
        <p:spPr>
          <a:xfrm>
            <a:off x="548640" y="6766560"/>
            <a:ext cx="20848320" cy="6492240"/>
          </a:xfrm>
          <a:prstGeom prst="roundRect">
            <a:avLst>
              <a:gd name="adj" fmla="val 3500"/>
            </a:avLst>
          </a:prstGeom>
          <a:solidFill>
            <a:srgbClr val="DCE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6931152"/>
            <a:ext cx="20025360" cy="685800"/>
          </a:xfrm>
          <a:prstGeom prst="rect">
            <a:avLst/>
          </a:prstGeom>
          <a:noFill/>
        </p:spPr>
        <p:txBody>
          <a:bodyPr wrap="square" lIns="73152" rIns="73152" tIns="36576" bIns="36576">
            <a:spAutoFit/>
          </a:bodyPr>
          <a:lstStyle/>
          <a:p>
            <a:pPr algn="l">
              <a:lnSpc>
                <a:spcPct val="110000"/>
              </a:lnSpc>
              <a:spcAft>
                <a:spcPts val="0"/>
              </a:spcAft>
            </a:pPr>
            <a:r>
              <a:rPr sz="3800" b="1" i="0">
                <a:solidFill>
                  <a:srgbClr val="102A54"/>
                </a:solidFill>
                <a:latin typeface="Calibri"/>
              </a:rPr>
              <a:t>BUILDING THE KNOWLEDGE BASE</a:t>
            </a:r>
          </a:p>
        </p:txBody>
      </p:sp>
      <p:sp>
        <p:nvSpPr>
          <p:cNvPr id="18" name="TextBox 17"/>
          <p:cNvSpPr txBox="1"/>
          <p:nvPr/>
        </p:nvSpPr>
        <p:spPr>
          <a:xfrm>
            <a:off x="960120" y="7635240"/>
            <a:ext cx="20025360" cy="320040"/>
          </a:xfrm>
          <a:prstGeom prst="rect">
            <a:avLst/>
          </a:prstGeom>
          <a:noFill/>
        </p:spPr>
        <p:txBody>
          <a:bodyPr wrap="square" lIns="73152" rIns="73152" tIns="36576" bIns="36576">
            <a:spAutoFit/>
          </a:bodyPr>
          <a:lstStyle/>
          <a:p>
            <a:pPr algn="l">
              <a:lnSpc>
                <a:spcPct val="110000"/>
              </a:lnSpc>
              <a:spcAft>
                <a:spcPts val="0"/>
              </a:spcAft>
            </a:pPr>
            <a:r>
              <a:rPr sz="1700" b="1" i="1">
                <a:solidFill>
                  <a:srgbClr val="707070"/>
                </a:solidFill>
                <a:latin typeface="Calibri"/>
              </a:rPr>
              <a:t>OWNER: Students 1 &amp; 2</a:t>
            </a:r>
          </a:p>
        </p:txBody>
      </p:sp>
      <p:sp>
        <p:nvSpPr>
          <p:cNvPr id="19" name="TextBox 18"/>
          <p:cNvSpPr txBox="1"/>
          <p:nvPr/>
        </p:nvSpPr>
        <p:spPr>
          <a:xfrm>
            <a:off x="960120" y="8001000"/>
            <a:ext cx="8339328" cy="4617720"/>
          </a:xfrm>
          <a:prstGeom prst="rect">
            <a:avLst/>
          </a:prstGeom>
          <a:noFill/>
        </p:spPr>
        <p:txBody>
          <a:bodyPr wrap="square" lIns="73152" rIns="73152" tIns="36576" bIns="36576">
            <a:spAutoFit/>
          </a:bodyPr>
          <a:lstStyle/>
          <a:p>
            <a:pPr algn="l">
              <a:lnSpc>
                <a:spcPct val="110000"/>
              </a:lnSpc>
              <a:spcAft>
                <a:spcPts val="700"/>
              </a:spcAft>
            </a:pPr>
            <a:r>
              <a:rPr sz="2200" b="0" i="0">
                <a:solidFill>
                  <a:srgbClr val="1A1A1A"/>
                </a:solidFill>
                <a:latin typeface="Calibri"/>
              </a:rPr>
              <a:t>The chatbot's knowledge comes from the real NRP documentation, not from the language model's training.</a:t>
            </a:r>
          </a:p>
          <a:p>
            <a:pPr algn="l">
              <a:lnSpc>
                <a:spcPct val="110000"/>
              </a:lnSpc>
              <a:spcAft>
                <a:spcPts val="700"/>
              </a:spcAft>
            </a:pPr>
            <a:r>
              <a:rPr sz="2200" b="0" i="0">
                <a:solidFill>
                  <a:srgbClr val="1A1A1A"/>
                </a:solidFill>
                <a:latin typeface="Calibri"/>
              </a:rPr>
              <a:t>• [S1] Pages collected from the NRP docs, and how we cleaned them</a:t>
            </a:r>
          </a:p>
          <a:p>
            <a:pPr algn="l">
              <a:lnSpc>
                <a:spcPct val="110000"/>
              </a:lnSpc>
              <a:spcAft>
                <a:spcPts val="700"/>
              </a:spcAft>
            </a:pPr>
            <a:r>
              <a:rPr sz="2200" b="0" i="0">
                <a:solidFill>
                  <a:srgbClr val="1A1A1A"/>
                </a:solidFill>
                <a:latin typeface="Calibri"/>
              </a:rPr>
              <a:t>• [S1] Chunking: why we split pages into ~500-token pieces</a:t>
            </a:r>
          </a:p>
          <a:p>
            <a:pPr algn="l">
              <a:lnSpc>
                <a:spcPct val="110000"/>
              </a:lnSpc>
              <a:spcAft>
                <a:spcPts val="700"/>
              </a:spcAft>
            </a:pPr>
            <a:r>
              <a:rPr sz="2200" b="0" i="0">
                <a:solidFill>
                  <a:srgbClr val="1A1A1A"/>
                </a:solidFill>
                <a:latin typeface="Calibri"/>
              </a:rPr>
              <a:t>• [S2] Embeddings: text becomes numbers, similar meaning lands nearby</a:t>
            </a:r>
          </a:p>
          <a:p>
            <a:pPr algn="l">
              <a:lnSpc>
                <a:spcPct val="110000"/>
              </a:lnSpc>
              <a:spcAft>
                <a:spcPts val="700"/>
              </a:spcAft>
            </a:pPr>
            <a:r>
              <a:rPr sz="2200" b="0" i="0">
                <a:solidFill>
                  <a:srgbClr val="1A1A1A"/>
                </a:solidFill>
                <a:latin typeface="Calibri"/>
              </a:rPr>
              <a:t>• [S2] How search() returns the five closest chunks to a question</a:t>
            </a:r>
          </a:p>
        </p:txBody>
      </p:sp>
      <p:sp>
        <p:nvSpPr>
          <p:cNvPr id="20" name="TextBox 19"/>
          <p:cNvSpPr txBox="1"/>
          <p:nvPr/>
        </p:nvSpPr>
        <p:spPr>
          <a:xfrm>
            <a:off x="960120" y="12728448"/>
            <a:ext cx="8339328" cy="411480"/>
          </a:xfrm>
          <a:prstGeom prst="rect">
            <a:avLst/>
          </a:prstGeom>
          <a:noFill/>
        </p:spPr>
        <p:txBody>
          <a:bodyPr wrap="square" lIns="73152" rIns="73152" tIns="36576" bIns="36576">
            <a:spAutoFit/>
          </a:bodyPr>
          <a:lstStyle/>
          <a:p>
            <a:pPr algn="l">
              <a:lnSpc>
                <a:spcPct val="110000"/>
              </a:lnSpc>
              <a:spcAft>
                <a:spcPts val="0"/>
              </a:spcAft>
            </a:pPr>
            <a:r>
              <a:rPr sz="1800" b="0" i="0">
                <a:solidFill>
                  <a:srgbClr val="1155CC"/>
                </a:solidFill>
                <a:latin typeface="Calibri"/>
              </a:rPr>
              <a:t>References: https://nrp.ai/documentation/  |  https://docs.trychroma.com/</a:t>
            </a:r>
          </a:p>
        </p:txBody>
      </p:sp>
      <p:sp>
        <p:nvSpPr>
          <p:cNvPr id="21" name="Rectangle 20"/>
          <p:cNvSpPr/>
          <p:nvPr/>
        </p:nvSpPr>
        <p:spPr>
          <a:xfrm>
            <a:off x="9721900" y="8001000"/>
            <a:ext cx="5293882" cy="2286000"/>
          </a:xfrm>
          <a:prstGeom prst="rect">
            <a:avLst/>
          </a:prstGeom>
          <a:solidFill>
            <a:srgbClr val="FFFFFF"/>
          </a:solidFill>
          <a:ln w="12700">
            <a:solidFill>
              <a:srgbClr val="7070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21900" y="8823960"/>
            <a:ext cx="5293882" cy="640080"/>
          </a:xfrm>
          <a:prstGeom prst="rect">
            <a:avLst/>
          </a:prstGeom>
          <a:noFill/>
        </p:spPr>
        <p:txBody>
          <a:bodyPr wrap="square" lIns="73152" rIns="73152" tIns="36576" bIns="36576">
            <a:spAutoFit/>
          </a:bodyPr>
          <a:lstStyle/>
          <a:p>
            <a:pPr algn="ctr">
              <a:lnSpc>
                <a:spcPct val="110000"/>
              </a:lnSpc>
              <a:spcAft>
                <a:spcPts val="0"/>
              </a:spcAft>
            </a:pPr>
            <a:r>
              <a:rPr sz="1600" b="0" i="1">
                <a:solidFill>
                  <a:srgbClr val="707070"/>
                </a:solidFill>
                <a:latin typeface="Calibri"/>
              </a:rPr>
              <a:t>[ FIGURE ]</a:t>
            </a:r>
          </a:p>
        </p:txBody>
      </p:sp>
      <p:sp>
        <p:nvSpPr>
          <p:cNvPr id="23" name="TextBox 22"/>
          <p:cNvSpPr txBox="1"/>
          <p:nvPr/>
        </p:nvSpPr>
        <p:spPr>
          <a:xfrm>
            <a:off x="9721900" y="10323576"/>
            <a:ext cx="5293882" cy="457200"/>
          </a:xfrm>
          <a:prstGeom prst="rect">
            <a:avLst/>
          </a:prstGeom>
          <a:noFill/>
        </p:spPr>
        <p:txBody>
          <a:bodyPr wrap="square" lIns="73152" rIns="73152" tIns="36576" bIns="36576">
            <a:spAutoFit/>
          </a:bodyPr>
          <a:lstStyle/>
          <a:p>
            <a:pPr algn="l">
              <a:lnSpc>
                <a:spcPct val="110000"/>
              </a:lnSpc>
              <a:spcAft>
                <a:spcPts val="0"/>
              </a:spcAft>
            </a:pPr>
            <a:r>
              <a:rPr sz="1500" b="0" i="0">
                <a:solidFill>
                  <a:srgbClr val="1A1A1A"/>
                </a:solidFill>
                <a:latin typeface="Calibri"/>
              </a:rPr>
              <a:t>Figure 1. Ingest pipeline: docs → clean → chunk → embed → vector database.</a:t>
            </a:r>
          </a:p>
        </p:txBody>
      </p:sp>
      <p:sp>
        <p:nvSpPr>
          <p:cNvPr id="24" name="Rectangle 23"/>
          <p:cNvSpPr/>
          <p:nvPr/>
        </p:nvSpPr>
        <p:spPr>
          <a:xfrm>
            <a:off x="15691597" y="8001000"/>
            <a:ext cx="5293882" cy="2286000"/>
          </a:xfrm>
          <a:prstGeom prst="rect">
            <a:avLst/>
          </a:prstGeom>
          <a:solidFill>
            <a:srgbClr val="FFFFFF"/>
          </a:solidFill>
          <a:ln w="12700">
            <a:solidFill>
              <a:srgbClr val="7070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691597" y="8823960"/>
            <a:ext cx="5293882" cy="640080"/>
          </a:xfrm>
          <a:prstGeom prst="rect">
            <a:avLst/>
          </a:prstGeom>
          <a:noFill/>
        </p:spPr>
        <p:txBody>
          <a:bodyPr wrap="square" lIns="73152" rIns="73152" tIns="36576" bIns="36576">
            <a:spAutoFit/>
          </a:bodyPr>
          <a:lstStyle/>
          <a:p>
            <a:pPr algn="ctr">
              <a:lnSpc>
                <a:spcPct val="110000"/>
              </a:lnSpc>
              <a:spcAft>
                <a:spcPts val="0"/>
              </a:spcAft>
            </a:pPr>
            <a:r>
              <a:rPr sz="1600" b="0" i="1">
                <a:solidFill>
                  <a:srgbClr val="707070"/>
                </a:solidFill>
                <a:latin typeface="Calibri"/>
              </a:rPr>
              <a:t>[ FIGURE ]</a:t>
            </a:r>
          </a:p>
        </p:txBody>
      </p:sp>
      <p:sp>
        <p:nvSpPr>
          <p:cNvPr id="26" name="TextBox 25"/>
          <p:cNvSpPr txBox="1"/>
          <p:nvPr/>
        </p:nvSpPr>
        <p:spPr>
          <a:xfrm>
            <a:off x="15691597" y="10323576"/>
            <a:ext cx="5293882" cy="457200"/>
          </a:xfrm>
          <a:prstGeom prst="rect">
            <a:avLst/>
          </a:prstGeom>
          <a:noFill/>
        </p:spPr>
        <p:txBody>
          <a:bodyPr wrap="square" lIns="73152" rIns="73152" tIns="36576" bIns="36576">
            <a:spAutoFit/>
          </a:bodyPr>
          <a:lstStyle/>
          <a:p>
            <a:pPr algn="l">
              <a:lnSpc>
                <a:spcPct val="110000"/>
              </a:lnSpc>
              <a:spcAft>
                <a:spcPts val="0"/>
              </a:spcAft>
            </a:pPr>
            <a:r>
              <a:rPr sz="1500" b="0" i="0">
                <a:solidFill>
                  <a:srgbClr val="1A1A1A"/>
                </a:solidFill>
                <a:latin typeface="Calibri"/>
              </a:rPr>
              <a:t>Figure 2. One example chunk, showing the text and its source URL.</a:t>
            </a:r>
          </a:p>
        </p:txBody>
      </p:sp>
      <p:sp>
        <p:nvSpPr>
          <p:cNvPr id="27" name="Rectangle 26"/>
          <p:cNvSpPr/>
          <p:nvPr/>
        </p:nvSpPr>
        <p:spPr>
          <a:xfrm>
            <a:off x="9721900" y="10652760"/>
            <a:ext cx="5293882" cy="1920240"/>
          </a:xfrm>
          <a:prstGeom prst="rect">
            <a:avLst/>
          </a:prstGeom>
          <a:solidFill>
            <a:srgbClr val="FFFFFF"/>
          </a:solidFill>
          <a:ln w="12700">
            <a:solidFill>
              <a:srgbClr val="7070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21900" y="11292840"/>
            <a:ext cx="5293882" cy="640080"/>
          </a:xfrm>
          <a:prstGeom prst="rect">
            <a:avLst/>
          </a:prstGeom>
          <a:noFill/>
        </p:spPr>
        <p:txBody>
          <a:bodyPr wrap="square" lIns="73152" rIns="73152" tIns="36576" bIns="36576">
            <a:spAutoFit/>
          </a:bodyPr>
          <a:lstStyle/>
          <a:p>
            <a:pPr algn="ctr">
              <a:lnSpc>
                <a:spcPct val="110000"/>
              </a:lnSpc>
              <a:spcAft>
                <a:spcPts val="0"/>
              </a:spcAft>
            </a:pPr>
            <a:r>
              <a:rPr sz="1600" b="0" i="1">
                <a:solidFill>
                  <a:srgbClr val="707070"/>
                </a:solidFill>
                <a:latin typeface="Calibri"/>
              </a:rPr>
              <a:t>[ FIGURE ]</a:t>
            </a:r>
          </a:p>
        </p:txBody>
      </p:sp>
      <p:sp>
        <p:nvSpPr>
          <p:cNvPr id="29" name="TextBox 28"/>
          <p:cNvSpPr txBox="1"/>
          <p:nvPr/>
        </p:nvSpPr>
        <p:spPr>
          <a:xfrm>
            <a:off x="9721900" y="12609576"/>
            <a:ext cx="5293882" cy="457200"/>
          </a:xfrm>
          <a:prstGeom prst="rect">
            <a:avLst/>
          </a:prstGeom>
          <a:noFill/>
        </p:spPr>
        <p:txBody>
          <a:bodyPr wrap="square" lIns="73152" rIns="73152" tIns="36576" bIns="36576">
            <a:spAutoFit/>
          </a:bodyPr>
          <a:lstStyle/>
          <a:p>
            <a:pPr algn="l">
              <a:lnSpc>
                <a:spcPct val="110000"/>
              </a:lnSpc>
              <a:spcAft>
                <a:spcPts val="0"/>
              </a:spcAft>
            </a:pPr>
            <a:r>
              <a:rPr sz="1500" b="0" i="0">
                <a:solidFill>
                  <a:srgbClr val="1A1A1A"/>
                </a:solidFill>
                <a:latin typeface="Calibri"/>
              </a:rPr>
              <a:t>Figure 3. A real question and the three chunks retrieved for it.</a:t>
            </a:r>
          </a:p>
        </p:txBody>
      </p:sp>
      <p:sp>
        <p:nvSpPr>
          <p:cNvPr id="30" name="Rectangle 29"/>
          <p:cNvSpPr/>
          <p:nvPr/>
        </p:nvSpPr>
        <p:spPr>
          <a:xfrm>
            <a:off x="15691597" y="10652760"/>
            <a:ext cx="5293882" cy="1920240"/>
          </a:xfrm>
          <a:prstGeom prst="rect">
            <a:avLst/>
          </a:prstGeom>
          <a:solidFill>
            <a:srgbClr val="FFFFFF"/>
          </a:solidFill>
          <a:ln w="12700">
            <a:solidFill>
              <a:srgbClr val="7070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691597" y="11292840"/>
            <a:ext cx="5293882" cy="640080"/>
          </a:xfrm>
          <a:prstGeom prst="rect">
            <a:avLst/>
          </a:prstGeom>
          <a:noFill/>
        </p:spPr>
        <p:txBody>
          <a:bodyPr wrap="square" lIns="73152" rIns="73152" tIns="36576" bIns="36576">
            <a:spAutoFit/>
          </a:bodyPr>
          <a:lstStyle/>
          <a:p>
            <a:pPr algn="ctr">
              <a:lnSpc>
                <a:spcPct val="110000"/>
              </a:lnSpc>
              <a:spcAft>
                <a:spcPts val="0"/>
              </a:spcAft>
            </a:pPr>
            <a:r>
              <a:rPr sz="1600" b="0" i="1">
                <a:solidFill>
                  <a:srgbClr val="707070"/>
                </a:solidFill>
                <a:latin typeface="Calibri"/>
              </a:rPr>
              <a:t>[ FIGURE ]</a:t>
            </a:r>
          </a:p>
        </p:txBody>
      </p:sp>
      <p:sp>
        <p:nvSpPr>
          <p:cNvPr id="32" name="TextBox 31"/>
          <p:cNvSpPr txBox="1"/>
          <p:nvPr/>
        </p:nvSpPr>
        <p:spPr>
          <a:xfrm>
            <a:off x="15691597" y="12609576"/>
            <a:ext cx="5293882" cy="457200"/>
          </a:xfrm>
          <a:prstGeom prst="rect">
            <a:avLst/>
          </a:prstGeom>
          <a:noFill/>
        </p:spPr>
        <p:txBody>
          <a:bodyPr wrap="square" lIns="73152" rIns="73152" tIns="36576" bIns="36576">
            <a:spAutoFit/>
          </a:bodyPr>
          <a:lstStyle/>
          <a:p>
            <a:pPr algn="l">
              <a:lnSpc>
                <a:spcPct val="110000"/>
              </a:lnSpc>
              <a:spcAft>
                <a:spcPts val="0"/>
              </a:spcAft>
            </a:pPr>
            <a:r>
              <a:rPr sz="1500" b="0" i="0">
                <a:solidFill>
                  <a:srgbClr val="1A1A1A"/>
                </a:solidFill>
                <a:latin typeface="Calibri"/>
              </a:rPr>
              <a:t>Figure 4. Table: pages collected, chunks produced, embedding model used.</a:t>
            </a:r>
          </a:p>
        </p:txBody>
      </p:sp>
      <p:sp>
        <p:nvSpPr>
          <p:cNvPr id="33" name="Rounded Rectangle 32"/>
          <p:cNvSpPr/>
          <p:nvPr/>
        </p:nvSpPr>
        <p:spPr>
          <a:xfrm>
            <a:off x="548640" y="13395960"/>
            <a:ext cx="20848320" cy="6492240"/>
          </a:xfrm>
          <a:prstGeom prst="roundRect">
            <a:avLst>
              <a:gd name="adj" fmla="val 3500"/>
            </a:avLst>
          </a:prstGeom>
          <a:solidFill>
            <a:srgbClr val="DCE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0120" y="13560552"/>
            <a:ext cx="20025360" cy="685800"/>
          </a:xfrm>
          <a:prstGeom prst="rect">
            <a:avLst/>
          </a:prstGeom>
          <a:noFill/>
        </p:spPr>
        <p:txBody>
          <a:bodyPr wrap="square" lIns="73152" rIns="73152" tIns="36576" bIns="36576">
            <a:spAutoFit/>
          </a:bodyPr>
          <a:lstStyle/>
          <a:p>
            <a:pPr algn="l">
              <a:lnSpc>
                <a:spcPct val="110000"/>
              </a:lnSpc>
              <a:spcAft>
                <a:spcPts val="0"/>
              </a:spcAft>
            </a:pPr>
            <a:r>
              <a:rPr sz="3800" b="1" i="0">
                <a:solidFill>
                  <a:srgbClr val="102A54"/>
                </a:solidFill>
                <a:latin typeface="Calibri"/>
              </a:rPr>
              <a:t>ANSWERING QUESTIONS WITH RAG</a:t>
            </a:r>
          </a:p>
        </p:txBody>
      </p:sp>
      <p:sp>
        <p:nvSpPr>
          <p:cNvPr id="35" name="TextBox 34"/>
          <p:cNvSpPr txBox="1"/>
          <p:nvPr/>
        </p:nvSpPr>
        <p:spPr>
          <a:xfrm>
            <a:off x="960120" y="14264640"/>
            <a:ext cx="20025360" cy="320040"/>
          </a:xfrm>
          <a:prstGeom prst="rect">
            <a:avLst/>
          </a:prstGeom>
          <a:noFill/>
        </p:spPr>
        <p:txBody>
          <a:bodyPr wrap="square" lIns="73152" rIns="73152" tIns="36576" bIns="36576">
            <a:spAutoFit/>
          </a:bodyPr>
          <a:lstStyle/>
          <a:p>
            <a:pPr algn="l">
              <a:lnSpc>
                <a:spcPct val="110000"/>
              </a:lnSpc>
              <a:spcAft>
                <a:spcPts val="0"/>
              </a:spcAft>
            </a:pPr>
            <a:r>
              <a:rPr sz="1700" b="1" i="1">
                <a:solidFill>
                  <a:srgbClr val="707070"/>
                </a:solidFill>
                <a:latin typeface="Calibri"/>
              </a:rPr>
              <a:t>OWNER: Students 3 &amp; 4</a:t>
            </a:r>
          </a:p>
        </p:txBody>
      </p:sp>
      <p:sp>
        <p:nvSpPr>
          <p:cNvPr id="36" name="TextBox 35"/>
          <p:cNvSpPr txBox="1"/>
          <p:nvPr/>
        </p:nvSpPr>
        <p:spPr>
          <a:xfrm>
            <a:off x="960120" y="14630400"/>
            <a:ext cx="8339328" cy="4617720"/>
          </a:xfrm>
          <a:prstGeom prst="rect">
            <a:avLst/>
          </a:prstGeom>
          <a:noFill/>
        </p:spPr>
        <p:txBody>
          <a:bodyPr wrap="square" lIns="73152" rIns="73152" tIns="36576" bIns="36576">
            <a:spAutoFit/>
          </a:bodyPr>
          <a:lstStyle/>
          <a:p>
            <a:pPr algn="l">
              <a:lnSpc>
                <a:spcPct val="110000"/>
              </a:lnSpc>
              <a:spcAft>
                <a:spcPts val="700"/>
              </a:spcAft>
            </a:pPr>
            <a:r>
              <a:rPr sz="2200" b="0" i="0">
                <a:solidFill>
                  <a:srgbClr val="1A1A1A"/>
                </a:solidFill>
                <a:latin typeface="Calibri"/>
              </a:rPr>
              <a:t>Retrieval-Augmented Generation (RAG) puts the answer *into* the question before the model ever sees it.</a:t>
            </a:r>
          </a:p>
          <a:p>
            <a:pPr algn="l">
              <a:lnSpc>
                <a:spcPct val="110000"/>
              </a:lnSpc>
              <a:spcAft>
                <a:spcPts val="700"/>
              </a:spcAft>
            </a:pPr>
            <a:r>
              <a:rPr sz="2200" b="0" i="0">
                <a:solidFill>
                  <a:srgbClr val="1A1A1A"/>
                </a:solidFill>
                <a:latin typeface="Calibri"/>
              </a:rPr>
              <a:t>• [S3] The prompt: retrieved docs + question → a grounded answer</a:t>
            </a:r>
          </a:p>
          <a:p>
            <a:pPr algn="l">
              <a:lnSpc>
                <a:spcPct val="110000"/>
              </a:lnSpc>
              <a:spcAft>
                <a:spcPts val="700"/>
              </a:spcAft>
            </a:pPr>
            <a:r>
              <a:rPr sz="2200" b="0" i="0">
                <a:solidFill>
                  <a:srgbClr val="1A1A1A"/>
                </a:solidFill>
                <a:latin typeface="Calibri"/>
              </a:rPr>
              <a:t>• [S3] Why we tell the model to admit when the docs don't cover it</a:t>
            </a:r>
          </a:p>
          <a:p>
            <a:pPr algn="l">
              <a:lnSpc>
                <a:spcPct val="110000"/>
              </a:lnSpc>
              <a:spcAft>
                <a:spcPts val="700"/>
              </a:spcAft>
            </a:pPr>
            <a:r>
              <a:rPr sz="2200" b="0" i="0">
                <a:solidFill>
                  <a:srgbClr val="1A1A1A"/>
                </a:solidFill>
                <a:latin typeface="Calibri"/>
              </a:rPr>
              <a:t>• [S3] How each answer carries citations back to its NRP page</a:t>
            </a:r>
          </a:p>
          <a:p>
            <a:pPr algn="l">
              <a:lnSpc>
                <a:spcPct val="110000"/>
              </a:lnSpc>
              <a:spcAft>
                <a:spcPts val="700"/>
              </a:spcAft>
            </a:pPr>
            <a:r>
              <a:rPr sz="2200" b="0" i="0">
                <a:solidFill>
                  <a:srgbClr val="1A1A1A"/>
                </a:solidFill>
                <a:latin typeface="Calibri"/>
              </a:rPr>
              <a:t>• [S4] The interface: streaming answers, history, a sources list</a:t>
            </a:r>
          </a:p>
        </p:txBody>
      </p:sp>
      <p:sp>
        <p:nvSpPr>
          <p:cNvPr id="37" name="TextBox 36"/>
          <p:cNvSpPr txBox="1"/>
          <p:nvPr/>
        </p:nvSpPr>
        <p:spPr>
          <a:xfrm>
            <a:off x="960120" y="19357848"/>
            <a:ext cx="8339328" cy="411480"/>
          </a:xfrm>
          <a:prstGeom prst="rect">
            <a:avLst/>
          </a:prstGeom>
          <a:noFill/>
        </p:spPr>
        <p:txBody>
          <a:bodyPr wrap="square" lIns="73152" rIns="73152" tIns="36576" bIns="36576">
            <a:spAutoFit/>
          </a:bodyPr>
          <a:lstStyle/>
          <a:p>
            <a:pPr algn="l">
              <a:lnSpc>
                <a:spcPct val="110000"/>
              </a:lnSpc>
              <a:spcAft>
                <a:spcPts val="0"/>
              </a:spcAft>
            </a:pPr>
            <a:r>
              <a:rPr sz="1800" b="0" i="0">
                <a:solidFill>
                  <a:srgbClr val="1155CC"/>
                </a:solidFill>
                <a:latin typeface="Calibri"/>
              </a:rPr>
              <a:t>References: Lewis et al., NeurIPS 2020  |  https://streamlit.io/</a:t>
            </a:r>
          </a:p>
        </p:txBody>
      </p:sp>
      <p:sp>
        <p:nvSpPr>
          <p:cNvPr id="38" name="Rectangle 37"/>
          <p:cNvSpPr/>
          <p:nvPr/>
        </p:nvSpPr>
        <p:spPr>
          <a:xfrm>
            <a:off x="9721900" y="14630400"/>
            <a:ext cx="5293882" cy="2286000"/>
          </a:xfrm>
          <a:prstGeom prst="rect">
            <a:avLst/>
          </a:prstGeom>
          <a:solidFill>
            <a:srgbClr val="FFFFFF"/>
          </a:solidFill>
          <a:ln w="12700">
            <a:solidFill>
              <a:srgbClr val="7070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21900" y="15453359"/>
            <a:ext cx="5293882" cy="640080"/>
          </a:xfrm>
          <a:prstGeom prst="rect">
            <a:avLst/>
          </a:prstGeom>
          <a:noFill/>
        </p:spPr>
        <p:txBody>
          <a:bodyPr wrap="square" lIns="73152" rIns="73152" tIns="36576" bIns="36576">
            <a:spAutoFit/>
          </a:bodyPr>
          <a:lstStyle/>
          <a:p>
            <a:pPr algn="ctr">
              <a:lnSpc>
                <a:spcPct val="110000"/>
              </a:lnSpc>
              <a:spcAft>
                <a:spcPts val="0"/>
              </a:spcAft>
            </a:pPr>
            <a:r>
              <a:rPr sz="1600" b="0" i="1">
                <a:solidFill>
                  <a:srgbClr val="707070"/>
                </a:solidFill>
                <a:latin typeface="Calibri"/>
              </a:rPr>
              <a:t>[ FIGURE ]</a:t>
            </a:r>
          </a:p>
        </p:txBody>
      </p:sp>
      <p:sp>
        <p:nvSpPr>
          <p:cNvPr id="40" name="TextBox 39"/>
          <p:cNvSpPr txBox="1"/>
          <p:nvPr/>
        </p:nvSpPr>
        <p:spPr>
          <a:xfrm>
            <a:off x="9721900" y="16952976"/>
            <a:ext cx="5293882" cy="457200"/>
          </a:xfrm>
          <a:prstGeom prst="rect">
            <a:avLst/>
          </a:prstGeom>
          <a:noFill/>
        </p:spPr>
        <p:txBody>
          <a:bodyPr wrap="square" lIns="73152" rIns="73152" tIns="36576" bIns="36576">
            <a:spAutoFit/>
          </a:bodyPr>
          <a:lstStyle/>
          <a:p>
            <a:pPr algn="l">
              <a:lnSpc>
                <a:spcPct val="110000"/>
              </a:lnSpc>
              <a:spcAft>
                <a:spcPts val="0"/>
              </a:spcAft>
            </a:pPr>
            <a:r>
              <a:rPr sz="1500" b="0" i="0">
                <a:solidFill>
                  <a:srgbClr val="1A1A1A"/>
                </a:solidFill>
                <a:latin typeface="Calibri"/>
              </a:rPr>
              <a:t>Figure 5. The RAG loop: embed → search → build prompt → LLM → cited answer.</a:t>
            </a:r>
          </a:p>
        </p:txBody>
      </p:sp>
      <p:sp>
        <p:nvSpPr>
          <p:cNvPr id="41" name="Rectangle 40"/>
          <p:cNvSpPr/>
          <p:nvPr/>
        </p:nvSpPr>
        <p:spPr>
          <a:xfrm>
            <a:off x="15691597" y="14630400"/>
            <a:ext cx="5293882" cy="2286000"/>
          </a:xfrm>
          <a:prstGeom prst="rect">
            <a:avLst/>
          </a:prstGeom>
          <a:solidFill>
            <a:srgbClr val="FFFFFF"/>
          </a:solidFill>
          <a:ln w="12700">
            <a:solidFill>
              <a:srgbClr val="7070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5691597" y="15453359"/>
            <a:ext cx="5293882" cy="640080"/>
          </a:xfrm>
          <a:prstGeom prst="rect">
            <a:avLst/>
          </a:prstGeom>
          <a:noFill/>
        </p:spPr>
        <p:txBody>
          <a:bodyPr wrap="square" lIns="73152" rIns="73152" tIns="36576" bIns="36576">
            <a:spAutoFit/>
          </a:bodyPr>
          <a:lstStyle/>
          <a:p>
            <a:pPr algn="ctr">
              <a:lnSpc>
                <a:spcPct val="110000"/>
              </a:lnSpc>
              <a:spcAft>
                <a:spcPts val="0"/>
              </a:spcAft>
            </a:pPr>
            <a:r>
              <a:rPr sz="1600" b="0" i="1">
                <a:solidFill>
                  <a:srgbClr val="707070"/>
                </a:solidFill>
                <a:latin typeface="Calibri"/>
              </a:rPr>
              <a:t>[ FIGURE ]</a:t>
            </a:r>
          </a:p>
        </p:txBody>
      </p:sp>
      <p:sp>
        <p:nvSpPr>
          <p:cNvPr id="43" name="TextBox 42"/>
          <p:cNvSpPr txBox="1"/>
          <p:nvPr/>
        </p:nvSpPr>
        <p:spPr>
          <a:xfrm>
            <a:off x="15691597" y="16952976"/>
            <a:ext cx="5293882" cy="457200"/>
          </a:xfrm>
          <a:prstGeom prst="rect">
            <a:avLst/>
          </a:prstGeom>
          <a:noFill/>
        </p:spPr>
        <p:txBody>
          <a:bodyPr wrap="square" lIns="73152" rIns="73152" tIns="36576" bIns="36576">
            <a:spAutoFit/>
          </a:bodyPr>
          <a:lstStyle/>
          <a:p>
            <a:pPr algn="l">
              <a:lnSpc>
                <a:spcPct val="110000"/>
              </a:lnSpc>
              <a:spcAft>
                <a:spcPts val="0"/>
              </a:spcAft>
            </a:pPr>
            <a:r>
              <a:rPr sz="1500" b="0" i="0">
                <a:solidFill>
                  <a:srgbClr val="1A1A1A"/>
                </a:solidFill>
                <a:latin typeface="Calibri"/>
              </a:rPr>
              <a:t>Figure 6. The same question answered WITHOUT retrieval (wrong) and WITH it (correct).</a:t>
            </a:r>
          </a:p>
        </p:txBody>
      </p:sp>
      <p:sp>
        <p:nvSpPr>
          <p:cNvPr id="44" name="Rectangle 43"/>
          <p:cNvSpPr/>
          <p:nvPr/>
        </p:nvSpPr>
        <p:spPr>
          <a:xfrm>
            <a:off x="9721900" y="17282160"/>
            <a:ext cx="11263579" cy="1920240"/>
          </a:xfrm>
          <a:prstGeom prst="rect">
            <a:avLst/>
          </a:prstGeom>
          <a:solidFill>
            <a:srgbClr val="FFFFFF"/>
          </a:solidFill>
          <a:ln w="12700">
            <a:solidFill>
              <a:srgbClr val="7070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21900" y="17922239"/>
            <a:ext cx="11263579" cy="640080"/>
          </a:xfrm>
          <a:prstGeom prst="rect">
            <a:avLst/>
          </a:prstGeom>
          <a:noFill/>
        </p:spPr>
        <p:txBody>
          <a:bodyPr wrap="square" lIns="73152" rIns="73152" tIns="36576" bIns="36576">
            <a:spAutoFit/>
          </a:bodyPr>
          <a:lstStyle/>
          <a:p>
            <a:pPr algn="ctr">
              <a:lnSpc>
                <a:spcPct val="110000"/>
              </a:lnSpc>
              <a:spcAft>
                <a:spcPts val="0"/>
              </a:spcAft>
            </a:pPr>
            <a:r>
              <a:rPr sz="1600" b="0" i="1">
                <a:solidFill>
                  <a:srgbClr val="707070"/>
                </a:solidFill>
                <a:latin typeface="Calibri"/>
              </a:rPr>
              <a:t>[ FIGURE ]</a:t>
            </a:r>
          </a:p>
        </p:txBody>
      </p:sp>
      <p:sp>
        <p:nvSpPr>
          <p:cNvPr id="46" name="TextBox 45"/>
          <p:cNvSpPr txBox="1"/>
          <p:nvPr/>
        </p:nvSpPr>
        <p:spPr>
          <a:xfrm>
            <a:off x="9721900" y="19238976"/>
            <a:ext cx="11263579" cy="457200"/>
          </a:xfrm>
          <a:prstGeom prst="rect">
            <a:avLst/>
          </a:prstGeom>
          <a:noFill/>
        </p:spPr>
        <p:txBody>
          <a:bodyPr wrap="square" lIns="73152" rIns="73152" tIns="36576" bIns="36576">
            <a:spAutoFit/>
          </a:bodyPr>
          <a:lstStyle/>
          <a:p>
            <a:pPr algn="l">
              <a:lnSpc>
                <a:spcPct val="110000"/>
              </a:lnSpc>
              <a:spcAft>
                <a:spcPts val="0"/>
              </a:spcAft>
            </a:pPr>
            <a:r>
              <a:rPr sz="1500" b="0" i="0">
                <a:solidFill>
                  <a:srgbClr val="1A1A1A"/>
                </a:solidFill>
                <a:latin typeface="Calibri"/>
              </a:rPr>
              <a:t>Figure 7. The chatbot interface — a real question, a real answer, real citations. (Hero image: crop tight, pick a good question.)</a:t>
            </a:r>
          </a:p>
        </p:txBody>
      </p:sp>
      <p:sp>
        <p:nvSpPr>
          <p:cNvPr id="47" name="Rounded Rectangle 46"/>
          <p:cNvSpPr/>
          <p:nvPr/>
        </p:nvSpPr>
        <p:spPr>
          <a:xfrm>
            <a:off x="548640" y="20025360"/>
            <a:ext cx="20848320" cy="5120640"/>
          </a:xfrm>
          <a:prstGeom prst="roundRect">
            <a:avLst>
              <a:gd name="adj" fmla="val 3500"/>
            </a:avLst>
          </a:prstGeom>
          <a:solidFill>
            <a:srgbClr val="DCE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60120" y="20189952"/>
            <a:ext cx="20025360" cy="685800"/>
          </a:xfrm>
          <a:prstGeom prst="rect">
            <a:avLst/>
          </a:prstGeom>
          <a:noFill/>
        </p:spPr>
        <p:txBody>
          <a:bodyPr wrap="square" lIns="73152" rIns="73152" tIns="36576" bIns="36576">
            <a:spAutoFit/>
          </a:bodyPr>
          <a:lstStyle/>
          <a:p>
            <a:pPr algn="l">
              <a:lnSpc>
                <a:spcPct val="110000"/>
              </a:lnSpc>
              <a:spcAft>
                <a:spcPts val="0"/>
              </a:spcAft>
            </a:pPr>
            <a:r>
              <a:rPr sz="3800" b="1" i="0">
                <a:solidFill>
                  <a:srgbClr val="102A54"/>
                </a:solidFill>
                <a:latin typeface="Calibri"/>
              </a:rPr>
              <a:t>DEPLOYING ON THE NATIONAL RESEARCH PLATFORM</a:t>
            </a:r>
          </a:p>
        </p:txBody>
      </p:sp>
      <p:sp>
        <p:nvSpPr>
          <p:cNvPr id="49" name="TextBox 48"/>
          <p:cNvSpPr txBox="1"/>
          <p:nvPr/>
        </p:nvSpPr>
        <p:spPr>
          <a:xfrm>
            <a:off x="960120" y="20894039"/>
            <a:ext cx="20025360" cy="320040"/>
          </a:xfrm>
          <a:prstGeom prst="rect">
            <a:avLst/>
          </a:prstGeom>
          <a:noFill/>
        </p:spPr>
        <p:txBody>
          <a:bodyPr wrap="square" lIns="73152" rIns="73152" tIns="36576" bIns="36576">
            <a:spAutoFit/>
          </a:bodyPr>
          <a:lstStyle/>
          <a:p>
            <a:pPr algn="l">
              <a:lnSpc>
                <a:spcPct val="110000"/>
              </a:lnSpc>
              <a:spcAft>
                <a:spcPts val="0"/>
              </a:spcAft>
            </a:pPr>
            <a:r>
              <a:rPr sz="1700" b="1" i="1">
                <a:solidFill>
                  <a:srgbClr val="707070"/>
                </a:solidFill>
                <a:latin typeface="Calibri"/>
              </a:rPr>
              <a:t>OWNER: Student 5</a:t>
            </a:r>
          </a:p>
        </p:txBody>
      </p:sp>
      <p:sp>
        <p:nvSpPr>
          <p:cNvPr id="50" name="TextBox 49"/>
          <p:cNvSpPr txBox="1"/>
          <p:nvPr/>
        </p:nvSpPr>
        <p:spPr>
          <a:xfrm>
            <a:off x="960120" y="21259800"/>
            <a:ext cx="8339328" cy="3246120"/>
          </a:xfrm>
          <a:prstGeom prst="rect">
            <a:avLst/>
          </a:prstGeom>
          <a:noFill/>
        </p:spPr>
        <p:txBody>
          <a:bodyPr wrap="square" lIns="73152" rIns="73152" tIns="36576" bIns="36576">
            <a:spAutoFit/>
          </a:bodyPr>
          <a:lstStyle/>
          <a:p>
            <a:pPr algn="l">
              <a:lnSpc>
                <a:spcPct val="110000"/>
              </a:lnSpc>
              <a:spcAft>
                <a:spcPts val="700"/>
              </a:spcAft>
            </a:pPr>
            <a:r>
              <a:rPr sz="2200" b="0" i="0">
                <a:solidFill>
                  <a:srgbClr val="1A1A1A"/>
                </a:solidFill>
                <a:latin typeface="Calibri"/>
              </a:rPr>
              <a:t>The chatbot runs on the same cluster it answers questions about.</a:t>
            </a:r>
          </a:p>
          <a:p>
            <a:pPr algn="l">
              <a:lnSpc>
                <a:spcPct val="110000"/>
              </a:lnSpc>
              <a:spcAft>
                <a:spcPts val="700"/>
              </a:spcAft>
            </a:pPr>
            <a:r>
              <a:rPr sz="2200" b="0" i="0">
                <a:solidFill>
                  <a:srgbClr val="1A1A1A"/>
                </a:solidFill>
                <a:latin typeface="Calibri"/>
              </a:rPr>
              <a:t>• The path: browser → Ingress → Service → Pod → NRP LLM → back</a:t>
            </a:r>
          </a:p>
          <a:p>
            <a:pPr algn="l">
              <a:lnSpc>
                <a:spcPct val="110000"/>
              </a:lnSpc>
              <a:spcAft>
                <a:spcPts val="700"/>
              </a:spcAft>
            </a:pPr>
            <a:r>
              <a:rPr sz="2200" b="0" i="0">
                <a:solidFill>
                  <a:srgbClr val="1A1A1A"/>
                </a:solidFill>
                <a:latin typeface="Calibri"/>
              </a:rPr>
              <a:t>• Why the vector database lives on a PVC and survives a restart</a:t>
            </a:r>
          </a:p>
          <a:p>
            <a:pPr algn="l">
              <a:lnSpc>
                <a:spcPct val="110000"/>
              </a:lnSpc>
              <a:spcAft>
                <a:spcPts val="700"/>
              </a:spcAft>
            </a:pPr>
            <a:r>
              <a:rPr sz="2200" b="0" i="0">
                <a:solidFill>
                  <a:srgbClr val="1A1A1A"/>
                </a:solidFill>
                <a:latin typeface="Calibri"/>
              </a:rPr>
              <a:t>• Why the API token is a Secret, never baked into the image</a:t>
            </a:r>
          </a:p>
          <a:p>
            <a:pPr algn="l">
              <a:lnSpc>
                <a:spcPct val="110000"/>
              </a:lnSpc>
              <a:spcAft>
                <a:spcPts val="700"/>
              </a:spcAft>
            </a:pPr>
            <a:r>
              <a:rPr sz="2200" b="0" i="0">
                <a:solidFill>
                  <a:srgbClr val="1A1A1A"/>
                </a:solidFill>
                <a:latin typeface="Calibri"/>
              </a:rPr>
              <a:t>• The live public URL anyone can visit</a:t>
            </a:r>
          </a:p>
        </p:txBody>
      </p:sp>
      <p:sp>
        <p:nvSpPr>
          <p:cNvPr id="51" name="TextBox 50"/>
          <p:cNvSpPr txBox="1"/>
          <p:nvPr/>
        </p:nvSpPr>
        <p:spPr>
          <a:xfrm>
            <a:off x="960120" y="24615648"/>
            <a:ext cx="8339328" cy="411480"/>
          </a:xfrm>
          <a:prstGeom prst="rect">
            <a:avLst/>
          </a:prstGeom>
          <a:noFill/>
        </p:spPr>
        <p:txBody>
          <a:bodyPr wrap="square" lIns="73152" rIns="73152" tIns="36576" bIns="36576">
            <a:spAutoFit/>
          </a:bodyPr>
          <a:lstStyle/>
          <a:p>
            <a:pPr algn="l">
              <a:lnSpc>
                <a:spcPct val="110000"/>
              </a:lnSpc>
              <a:spcAft>
                <a:spcPts val="0"/>
              </a:spcAft>
            </a:pPr>
            <a:r>
              <a:rPr sz="1800" b="0" i="0">
                <a:solidFill>
                  <a:srgbClr val="1155CC"/>
                </a:solidFill>
                <a:latin typeface="Calibri"/>
              </a:rPr>
              <a:t>References: https://nrp.ai/  |  https://kubernetes.io/docs/</a:t>
            </a:r>
          </a:p>
        </p:txBody>
      </p:sp>
      <p:sp>
        <p:nvSpPr>
          <p:cNvPr id="52" name="Rectangle 51"/>
          <p:cNvSpPr/>
          <p:nvPr/>
        </p:nvSpPr>
        <p:spPr>
          <a:xfrm>
            <a:off x="9721900" y="21259800"/>
            <a:ext cx="5293882" cy="3108960"/>
          </a:xfrm>
          <a:prstGeom prst="rect">
            <a:avLst/>
          </a:prstGeom>
          <a:solidFill>
            <a:srgbClr val="FFFFFF"/>
          </a:solidFill>
          <a:ln w="12700">
            <a:solidFill>
              <a:srgbClr val="7070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21900" y="22494239"/>
            <a:ext cx="5293882" cy="640080"/>
          </a:xfrm>
          <a:prstGeom prst="rect">
            <a:avLst/>
          </a:prstGeom>
          <a:noFill/>
        </p:spPr>
        <p:txBody>
          <a:bodyPr wrap="square" lIns="73152" rIns="73152" tIns="36576" bIns="36576">
            <a:spAutoFit/>
          </a:bodyPr>
          <a:lstStyle/>
          <a:p>
            <a:pPr algn="ctr">
              <a:lnSpc>
                <a:spcPct val="110000"/>
              </a:lnSpc>
              <a:spcAft>
                <a:spcPts val="0"/>
              </a:spcAft>
            </a:pPr>
            <a:r>
              <a:rPr sz="1600" b="0" i="1">
                <a:solidFill>
                  <a:srgbClr val="707070"/>
                </a:solidFill>
                <a:latin typeface="Calibri"/>
              </a:rPr>
              <a:t>[ FIGURE ]</a:t>
            </a:r>
          </a:p>
        </p:txBody>
      </p:sp>
      <p:sp>
        <p:nvSpPr>
          <p:cNvPr id="54" name="TextBox 53"/>
          <p:cNvSpPr txBox="1"/>
          <p:nvPr/>
        </p:nvSpPr>
        <p:spPr>
          <a:xfrm>
            <a:off x="9721900" y="24405335"/>
            <a:ext cx="5293882" cy="457200"/>
          </a:xfrm>
          <a:prstGeom prst="rect">
            <a:avLst/>
          </a:prstGeom>
          <a:noFill/>
        </p:spPr>
        <p:txBody>
          <a:bodyPr wrap="square" lIns="73152" rIns="73152" tIns="36576" bIns="36576">
            <a:spAutoFit/>
          </a:bodyPr>
          <a:lstStyle/>
          <a:p>
            <a:pPr algn="l">
              <a:lnSpc>
                <a:spcPct val="110000"/>
              </a:lnSpc>
              <a:spcAft>
                <a:spcPts val="0"/>
              </a:spcAft>
            </a:pPr>
            <a:r>
              <a:rPr sz="1500" b="0" i="0">
                <a:solidFill>
                  <a:srgbClr val="1A1A1A"/>
                </a:solidFill>
                <a:latin typeface="Calibri"/>
              </a:rPr>
              <a:t>Figure 8. System architecture on NRP: Ingress, Service, Pod, Secret, ConfigMap, PVC.</a:t>
            </a:r>
          </a:p>
        </p:txBody>
      </p:sp>
      <p:sp>
        <p:nvSpPr>
          <p:cNvPr id="55" name="Rectangle 54"/>
          <p:cNvSpPr/>
          <p:nvPr/>
        </p:nvSpPr>
        <p:spPr>
          <a:xfrm>
            <a:off x="15691597" y="21259800"/>
            <a:ext cx="5293882" cy="1371600"/>
          </a:xfrm>
          <a:prstGeom prst="rect">
            <a:avLst/>
          </a:prstGeom>
          <a:solidFill>
            <a:srgbClr val="FFFFFF"/>
          </a:solidFill>
          <a:ln w="12700">
            <a:solidFill>
              <a:srgbClr val="7070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5691597" y="21625560"/>
            <a:ext cx="5293882" cy="640080"/>
          </a:xfrm>
          <a:prstGeom prst="rect">
            <a:avLst/>
          </a:prstGeom>
          <a:noFill/>
        </p:spPr>
        <p:txBody>
          <a:bodyPr wrap="square" lIns="73152" rIns="73152" tIns="36576" bIns="36576">
            <a:spAutoFit/>
          </a:bodyPr>
          <a:lstStyle/>
          <a:p>
            <a:pPr algn="ctr">
              <a:lnSpc>
                <a:spcPct val="110000"/>
              </a:lnSpc>
              <a:spcAft>
                <a:spcPts val="0"/>
              </a:spcAft>
            </a:pPr>
            <a:r>
              <a:rPr sz="1600" b="0" i="1">
                <a:solidFill>
                  <a:srgbClr val="707070"/>
                </a:solidFill>
                <a:latin typeface="Calibri"/>
              </a:rPr>
              <a:t>[ FIGURE ]</a:t>
            </a:r>
          </a:p>
        </p:txBody>
      </p:sp>
      <p:sp>
        <p:nvSpPr>
          <p:cNvPr id="57" name="TextBox 56"/>
          <p:cNvSpPr txBox="1"/>
          <p:nvPr/>
        </p:nvSpPr>
        <p:spPr>
          <a:xfrm>
            <a:off x="15691597" y="22667976"/>
            <a:ext cx="5293882" cy="457200"/>
          </a:xfrm>
          <a:prstGeom prst="rect">
            <a:avLst/>
          </a:prstGeom>
          <a:noFill/>
        </p:spPr>
        <p:txBody>
          <a:bodyPr wrap="square" lIns="73152" rIns="73152" tIns="36576" bIns="36576">
            <a:spAutoFit/>
          </a:bodyPr>
          <a:lstStyle/>
          <a:p>
            <a:pPr algn="l">
              <a:lnSpc>
                <a:spcPct val="110000"/>
              </a:lnSpc>
              <a:spcAft>
                <a:spcPts val="0"/>
              </a:spcAft>
            </a:pPr>
            <a:r>
              <a:rPr sz="1500" b="0" i="0">
                <a:solidFill>
                  <a:srgbClr val="1A1A1A"/>
                </a:solidFill>
                <a:latin typeface="Calibri"/>
              </a:rPr>
              <a:t>Figure 9. kubectl get pods — the chatbot pod Running.</a:t>
            </a:r>
          </a:p>
        </p:txBody>
      </p:sp>
      <p:sp>
        <p:nvSpPr>
          <p:cNvPr id="58" name="Rectangle 57"/>
          <p:cNvSpPr/>
          <p:nvPr/>
        </p:nvSpPr>
        <p:spPr>
          <a:xfrm>
            <a:off x="15691597" y="22997160"/>
            <a:ext cx="5293882" cy="1371600"/>
          </a:xfrm>
          <a:prstGeom prst="rect">
            <a:avLst/>
          </a:prstGeom>
          <a:solidFill>
            <a:srgbClr val="FFFFFF"/>
          </a:solidFill>
          <a:ln w="12700">
            <a:solidFill>
              <a:srgbClr val="7070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5691597" y="23362919"/>
            <a:ext cx="5293882" cy="640080"/>
          </a:xfrm>
          <a:prstGeom prst="rect">
            <a:avLst/>
          </a:prstGeom>
          <a:noFill/>
        </p:spPr>
        <p:txBody>
          <a:bodyPr wrap="square" lIns="73152" rIns="73152" tIns="36576" bIns="36576">
            <a:spAutoFit/>
          </a:bodyPr>
          <a:lstStyle/>
          <a:p>
            <a:pPr algn="ctr">
              <a:lnSpc>
                <a:spcPct val="110000"/>
              </a:lnSpc>
              <a:spcAft>
                <a:spcPts val="0"/>
              </a:spcAft>
            </a:pPr>
            <a:r>
              <a:rPr sz="1600" b="0" i="1">
                <a:solidFill>
                  <a:srgbClr val="707070"/>
                </a:solidFill>
                <a:latin typeface="Calibri"/>
              </a:rPr>
              <a:t>[ FIGURE ]</a:t>
            </a:r>
          </a:p>
        </p:txBody>
      </p:sp>
      <p:sp>
        <p:nvSpPr>
          <p:cNvPr id="60" name="TextBox 59"/>
          <p:cNvSpPr txBox="1"/>
          <p:nvPr/>
        </p:nvSpPr>
        <p:spPr>
          <a:xfrm>
            <a:off x="15691597" y="24405335"/>
            <a:ext cx="5293882" cy="457200"/>
          </a:xfrm>
          <a:prstGeom prst="rect">
            <a:avLst/>
          </a:prstGeom>
          <a:noFill/>
        </p:spPr>
        <p:txBody>
          <a:bodyPr wrap="square" lIns="73152" rIns="73152" tIns="36576" bIns="36576">
            <a:spAutoFit/>
          </a:bodyPr>
          <a:lstStyle/>
          <a:p>
            <a:pPr algn="l">
              <a:lnSpc>
                <a:spcPct val="110000"/>
              </a:lnSpc>
              <a:spcAft>
                <a:spcPts val="0"/>
              </a:spcAft>
            </a:pPr>
            <a:r>
              <a:rPr sz="1500" b="0" i="0">
                <a:solidFill>
                  <a:srgbClr val="1A1A1A"/>
                </a:solidFill>
                <a:latin typeface="Calibri"/>
              </a:rPr>
              <a:t>Figure 10. QR code + live URL.</a:t>
            </a:r>
          </a:p>
        </p:txBody>
      </p:sp>
      <p:sp>
        <p:nvSpPr>
          <p:cNvPr id="61" name="Rounded Rectangle 60"/>
          <p:cNvSpPr/>
          <p:nvPr/>
        </p:nvSpPr>
        <p:spPr>
          <a:xfrm>
            <a:off x="548640" y="25283160"/>
            <a:ext cx="20848320" cy="4937760"/>
          </a:xfrm>
          <a:prstGeom prst="roundRect">
            <a:avLst>
              <a:gd name="adj" fmla="val 3500"/>
            </a:avLst>
          </a:prstGeom>
          <a:solidFill>
            <a:srgbClr val="DCE9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60120" y="25447752"/>
            <a:ext cx="20025360" cy="685800"/>
          </a:xfrm>
          <a:prstGeom prst="rect">
            <a:avLst/>
          </a:prstGeom>
          <a:noFill/>
        </p:spPr>
        <p:txBody>
          <a:bodyPr wrap="square" lIns="73152" rIns="73152" tIns="36576" bIns="36576">
            <a:spAutoFit/>
          </a:bodyPr>
          <a:lstStyle/>
          <a:p>
            <a:pPr algn="l">
              <a:lnSpc>
                <a:spcPct val="110000"/>
              </a:lnSpc>
              <a:spcAft>
                <a:spcPts val="0"/>
              </a:spcAft>
            </a:pPr>
            <a:r>
              <a:rPr sz="3800" b="1" i="0">
                <a:solidFill>
                  <a:srgbClr val="102A54"/>
                </a:solidFill>
                <a:latin typeface="Calibri"/>
              </a:rPr>
              <a:t>EVALUATION: DOES IT WORK?</a:t>
            </a:r>
          </a:p>
        </p:txBody>
      </p:sp>
      <p:sp>
        <p:nvSpPr>
          <p:cNvPr id="63" name="TextBox 62"/>
          <p:cNvSpPr txBox="1"/>
          <p:nvPr/>
        </p:nvSpPr>
        <p:spPr>
          <a:xfrm>
            <a:off x="960120" y="26151839"/>
            <a:ext cx="20025360" cy="320040"/>
          </a:xfrm>
          <a:prstGeom prst="rect">
            <a:avLst/>
          </a:prstGeom>
          <a:noFill/>
        </p:spPr>
        <p:txBody>
          <a:bodyPr wrap="square" lIns="73152" rIns="73152" tIns="36576" bIns="36576">
            <a:spAutoFit/>
          </a:bodyPr>
          <a:lstStyle/>
          <a:p>
            <a:pPr algn="l">
              <a:lnSpc>
                <a:spcPct val="110000"/>
              </a:lnSpc>
              <a:spcAft>
                <a:spcPts val="0"/>
              </a:spcAft>
            </a:pPr>
            <a:r>
              <a:rPr sz="1700" b="1" i="1">
                <a:solidFill>
                  <a:srgbClr val="707070"/>
                </a:solidFill>
                <a:latin typeface="Calibri"/>
              </a:rPr>
              <a:t>OWNER: Student 6</a:t>
            </a:r>
          </a:p>
        </p:txBody>
      </p:sp>
      <p:sp>
        <p:nvSpPr>
          <p:cNvPr id="64" name="TextBox 63"/>
          <p:cNvSpPr txBox="1"/>
          <p:nvPr/>
        </p:nvSpPr>
        <p:spPr>
          <a:xfrm>
            <a:off x="960120" y="26517600"/>
            <a:ext cx="8339328" cy="3063240"/>
          </a:xfrm>
          <a:prstGeom prst="rect">
            <a:avLst/>
          </a:prstGeom>
          <a:noFill/>
        </p:spPr>
        <p:txBody>
          <a:bodyPr wrap="square" lIns="73152" rIns="73152" tIns="36576" bIns="36576">
            <a:spAutoFit/>
          </a:bodyPr>
          <a:lstStyle/>
          <a:p>
            <a:pPr algn="l">
              <a:lnSpc>
                <a:spcPct val="110000"/>
              </a:lnSpc>
              <a:spcAft>
                <a:spcPts val="700"/>
              </a:spcAft>
            </a:pPr>
            <a:r>
              <a:rPr sz="2200" b="0" i="0">
                <a:solidFill>
                  <a:srgbClr val="1A1A1A"/>
                </a:solidFill>
                <a:latin typeface="Calibri"/>
              </a:rPr>
              <a:t>We wrote 20 real NRP questions and graded every answer by hand.</a:t>
            </a:r>
          </a:p>
          <a:p>
            <a:pPr algn="l">
              <a:lnSpc>
                <a:spcPct val="110000"/>
              </a:lnSpc>
              <a:spcAft>
                <a:spcPts val="700"/>
              </a:spcAft>
            </a:pPr>
            <a:r>
              <a:rPr sz="2200" b="0" i="0">
                <a:solidFill>
                  <a:srgbClr val="1A1A1A"/>
                </a:solidFill>
                <a:latin typeface="Calibri"/>
              </a:rPr>
              <a:t>• Each question answered twice: once with retrieval, once without</a:t>
            </a:r>
          </a:p>
          <a:p>
            <a:pPr algn="l">
              <a:lnSpc>
                <a:spcPct val="110000"/>
              </a:lnSpc>
              <a:spcAft>
                <a:spcPts val="700"/>
              </a:spcAft>
            </a:pPr>
            <a:r>
              <a:rPr sz="2200" b="0" i="0">
                <a:solidFill>
                  <a:srgbClr val="1A1A1A"/>
                </a:solidFill>
                <a:latin typeface="Calibri"/>
              </a:rPr>
              <a:t>• The gap between those two scores is the evidence that RAG helps</a:t>
            </a:r>
          </a:p>
          <a:p>
            <a:pPr algn="l">
              <a:lnSpc>
                <a:spcPct val="110000"/>
              </a:lnSpc>
              <a:spcAft>
                <a:spcPts val="700"/>
              </a:spcAft>
            </a:pPr>
            <a:r>
              <a:rPr sz="2200" b="0" i="0">
                <a:solidFill>
                  <a:srgbClr val="1A1A1A"/>
                </a:solidFill>
                <a:latin typeface="Calibri"/>
              </a:rPr>
              <a:t>• Each miss classified: retrieval miss, or model miss</a:t>
            </a:r>
          </a:p>
          <a:p>
            <a:pPr algn="l">
              <a:lnSpc>
                <a:spcPct val="110000"/>
              </a:lnSpc>
              <a:spcAft>
                <a:spcPts val="700"/>
              </a:spcAft>
            </a:pPr>
            <a:r>
              <a:rPr sz="2200" b="0" i="0">
                <a:solidFill>
                  <a:srgbClr val="1A1A1A"/>
                </a:solidFill>
                <a:latin typeface="Calibri"/>
              </a:rPr>
              <a:t>• Limitations: 20 questions is a small set, and we wrote it</a:t>
            </a:r>
          </a:p>
        </p:txBody>
      </p:sp>
      <p:sp>
        <p:nvSpPr>
          <p:cNvPr id="65" name="TextBox 64"/>
          <p:cNvSpPr txBox="1"/>
          <p:nvPr/>
        </p:nvSpPr>
        <p:spPr>
          <a:xfrm>
            <a:off x="960120" y="29690568"/>
            <a:ext cx="8339328" cy="411480"/>
          </a:xfrm>
          <a:prstGeom prst="rect">
            <a:avLst/>
          </a:prstGeom>
          <a:noFill/>
        </p:spPr>
        <p:txBody>
          <a:bodyPr wrap="square" lIns="73152" rIns="73152" tIns="36576" bIns="36576">
            <a:spAutoFit/>
          </a:bodyPr>
          <a:lstStyle/>
          <a:p>
            <a:pPr algn="l">
              <a:lnSpc>
                <a:spcPct val="110000"/>
              </a:lnSpc>
              <a:spcAft>
                <a:spcPts val="0"/>
              </a:spcAft>
            </a:pPr>
            <a:r>
              <a:rPr sz="1800" b="0" i="0">
                <a:solidFill>
                  <a:srgbClr val="1155CC"/>
                </a:solidFill>
                <a:latin typeface="Calibri"/>
              </a:rPr>
              <a:t>References: our evaluation set — eval/questions.jsonl in the project repo</a:t>
            </a:r>
          </a:p>
        </p:txBody>
      </p:sp>
      <p:sp>
        <p:nvSpPr>
          <p:cNvPr id="66" name="Rectangle 65"/>
          <p:cNvSpPr/>
          <p:nvPr/>
        </p:nvSpPr>
        <p:spPr>
          <a:xfrm>
            <a:off x="9721900" y="26517600"/>
            <a:ext cx="5293882" cy="3108960"/>
          </a:xfrm>
          <a:prstGeom prst="rect">
            <a:avLst/>
          </a:prstGeom>
          <a:solidFill>
            <a:srgbClr val="FFFFFF"/>
          </a:solidFill>
          <a:ln w="12700">
            <a:solidFill>
              <a:srgbClr val="7070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721900" y="27752039"/>
            <a:ext cx="5293882" cy="640080"/>
          </a:xfrm>
          <a:prstGeom prst="rect">
            <a:avLst/>
          </a:prstGeom>
          <a:noFill/>
        </p:spPr>
        <p:txBody>
          <a:bodyPr wrap="square" lIns="73152" rIns="73152" tIns="36576" bIns="36576">
            <a:spAutoFit/>
          </a:bodyPr>
          <a:lstStyle/>
          <a:p>
            <a:pPr algn="ctr">
              <a:lnSpc>
                <a:spcPct val="110000"/>
              </a:lnSpc>
              <a:spcAft>
                <a:spcPts val="0"/>
              </a:spcAft>
            </a:pPr>
            <a:r>
              <a:rPr sz="1600" b="0" i="1">
                <a:solidFill>
                  <a:srgbClr val="707070"/>
                </a:solidFill>
                <a:latin typeface="Calibri"/>
              </a:rPr>
              <a:t>[ FIGURE ]</a:t>
            </a:r>
          </a:p>
        </p:txBody>
      </p:sp>
      <p:sp>
        <p:nvSpPr>
          <p:cNvPr id="68" name="TextBox 67"/>
          <p:cNvSpPr txBox="1"/>
          <p:nvPr/>
        </p:nvSpPr>
        <p:spPr>
          <a:xfrm>
            <a:off x="9721900" y="29663135"/>
            <a:ext cx="5293882" cy="457200"/>
          </a:xfrm>
          <a:prstGeom prst="rect">
            <a:avLst/>
          </a:prstGeom>
          <a:noFill/>
        </p:spPr>
        <p:txBody>
          <a:bodyPr wrap="square" lIns="73152" rIns="73152" tIns="36576" bIns="36576">
            <a:spAutoFit/>
          </a:bodyPr>
          <a:lstStyle/>
          <a:p>
            <a:pPr algn="l">
              <a:lnSpc>
                <a:spcPct val="110000"/>
              </a:lnSpc>
              <a:spcAft>
                <a:spcPts val="0"/>
              </a:spcAft>
            </a:pPr>
            <a:r>
              <a:rPr sz="1500" b="0" i="0">
                <a:solidFill>
                  <a:srgbClr val="1A1A1A"/>
                </a:solidFill>
                <a:latin typeface="Calibri"/>
              </a:rPr>
              <a:t>Figure 11. Score with retrieval vs. without — a bar chart beats a table.</a:t>
            </a:r>
          </a:p>
        </p:txBody>
      </p:sp>
      <p:sp>
        <p:nvSpPr>
          <p:cNvPr id="69" name="Rectangle 68"/>
          <p:cNvSpPr/>
          <p:nvPr/>
        </p:nvSpPr>
        <p:spPr>
          <a:xfrm>
            <a:off x="15691597" y="26517600"/>
            <a:ext cx="5293882" cy="3108960"/>
          </a:xfrm>
          <a:prstGeom prst="rect">
            <a:avLst/>
          </a:prstGeom>
          <a:solidFill>
            <a:srgbClr val="FFFFFF"/>
          </a:solidFill>
          <a:ln w="12700">
            <a:solidFill>
              <a:srgbClr val="7070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5691597" y="27752039"/>
            <a:ext cx="5293882" cy="640080"/>
          </a:xfrm>
          <a:prstGeom prst="rect">
            <a:avLst/>
          </a:prstGeom>
          <a:noFill/>
        </p:spPr>
        <p:txBody>
          <a:bodyPr wrap="square" lIns="73152" rIns="73152" tIns="36576" bIns="36576">
            <a:spAutoFit/>
          </a:bodyPr>
          <a:lstStyle/>
          <a:p>
            <a:pPr algn="ctr">
              <a:lnSpc>
                <a:spcPct val="110000"/>
              </a:lnSpc>
              <a:spcAft>
                <a:spcPts val="0"/>
              </a:spcAft>
            </a:pPr>
            <a:r>
              <a:rPr sz="1600" b="0" i="1">
                <a:solidFill>
                  <a:srgbClr val="707070"/>
                </a:solidFill>
                <a:latin typeface="Calibri"/>
              </a:rPr>
              <a:t>[ FIGURE ]</a:t>
            </a:r>
          </a:p>
        </p:txBody>
      </p:sp>
      <p:sp>
        <p:nvSpPr>
          <p:cNvPr id="71" name="TextBox 70"/>
          <p:cNvSpPr txBox="1"/>
          <p:nvPr/>
        </p:nvSpPr>
        <p:spPr>
          <a:xfrm>
            <a:off x="15691597" y="29663135"/>
            <a:ext cx="5293882" cy="457200"/>
          </a:xfrm>
          <a:prstGeom prst="rect">
            <a:avLst/>
          </a:prstGeom>
          <a:noFill/>
        </p:spPr>
        <p:txBody>
          <a:bodyPr wrap="square" lIns="73152" rIns="73152" tIns="36576" bIns="36576">
            <a:spAutoFit/>
          </a:bodyPr>
          <a:lstStyle/>
          <a:p>
            <a:pPr algn="l">
              <a:lnSpc>
                <a:spcPct val="110000"/>
              </a:lnSpc>
              <a:spcAft>
                <a:spcPts val="0"/>
              </a:spcAft>
            </a:pPr>
            <a:r>
              <a:rPr sz="1500" b="0" i="0">
                <a:solidFill>
                  <a:srgbClr val="1A1A1A"/>
                </a:solidFill>
                <a:latin typeface="Calibri"/>
              </a:rPr>
              <a:t>Figure 12. Breakdown of the failures: retrieval misses vs. model misses.</a:t>
            </a:r>
          </a:p>
        </p:txBody>
      </p:sp>
      <p:sp>
        <p:nvSpPr>
          <p:cNvPr id="72" name="Rounded Rectangle 71"/>
          <p:cNvSpPr/>
          <p:nvPr/>
        </p:nvSpPr>
        <p:spPr>
          <a:xfrm>
            <a:off x="548640" y="30312360"/>
            <a:ext cx="20848320" cy="2103120"/>
          </a:xfrm>
          <a:prstGeom prst="roundRect">
            <a:avLst>
              <a:gd name="adj" fmla="val 3500"/>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60120" y="30422087"/>
            <a:ext cx="20025360" cy="502920"/>
          </a:xfrm>
          <a:prstGeom prst="rect">
            <a:avLst/>
          </a:prstGeom>
          <a:noFill/>
        </p:spPr>
        <p:txBody>
          <a:bodyPr wrap="square" lIns="73152" rIns="73152" tIns="36576" bIns="36576">
            <a:spAutoFit/>
          </a:bodyPr>
          <a:lstStyle/>
          <a:p>
            <a:pPr algn="l">
              <a:lnSpc>
                <a:spcPct val="110000"/>
              </a:lnSpc>
              <a:spcAft>
                <a:spcPts val="0"/>
              </a:spcAft>
            </a:pPr>
            <a:r>
              <a:rPr sz="3000" b="1" i="0">
                <a:solidFill>
                  <a:srgbClr val="102A54"/>
                </a:solidFill>
                <a:latin typeface="Calibri"/>
              </a:rPr>
              <a:t>CONCLUSIONS &amp; FUTURE WORK</a:t>
            </a:r>
          </a:p>
        </p:txBody>
      </p:sp>
      <p:sp>
        <p:nvSpPr>
          <p:cNvPr id="74" name="TextBox 73"/>
          <p:cNvSpPr txBox="1"/>
          <p:nvPr/>
        </p:nvSpPr>
        <p:spPr>
          <a:xfrm>
            <a:off x="960120" y="30934152"/>
            <a:ext cx="9784080" cy="1371600"/>
          </a:xfrm>
          <a:prstGeom prst="rect">
            <a:avLst/>
          </a:prstGeom>
          <a:noFill/>
        </p:spPr>
        <p:txBody>
          <a:bodyPr wrap="square" lIns="73152" rIns="73152" tIns="36576" bIns="36576">
            <a:spAutoFit/>
          </a:bodyPr>
          <a:lstStyle/>
          <a:p>
            <a:pPr algn="l">
              <a:lnSpc>
                <a:spcPct val="110000"/>
              </a:lnSpc>
              <a:spcAft>
                <a:spcPts val="300"/>
              </a:spcAft>
            </a:pPr>
            <a:r>
              <a:rPr sz="2100" b="0" i="0">
                <a:solidFill>
                  <a:srgbClr val="1A1A1A"/>
                </a:solidFill>
                <a:latin typeface="Calibri"/>
              </a:rPr>
              <a:t>[OWNER: Student 7 — 3 bullets]</a:t>
            </a:r>
          </a:p>
          <a:p>
            <a:pPr algn="l">
              <a:lnSpc>
                <a:spcPct val="110000"/>
              </a:lnSpc>
              <a:spcAft>
                <a:spcPts val="300"/>
              </a:spcAft>
            </a:pPr>
            <a:r>
              <a:rPr sz="2100" b="0" i="0">
                <a:solidFill>
                  <a:srgbClr val="1A1A1A"/>
                </a:solidFill>
                <a:latin typeface="Calibri"/>
              </a:rPr>
              <a:t>• What we built, and that it runs live on NRP</a:t>
            </a:r>
          </a:p>
          <a:p>
            <a:pPr algn="l">
              <a:lnSpc>
                <a:spcPct val="110000"/>
              </a:lnSpc>
              <a:spcAft>
                <a:spcPts val="300"/>
              </a:spcAft>
            </a:pPr>
            <a:r>
              <a:rPr sz="2100" b="0" i="0">
                <a:solidFill>
                  <a:srgbClr val="1A1A1A"/>
                </a:solidFill>
                <a:latin typeface="Calibri"/>
              </a:rPr>
              <a:t>• The one number showing retrieval helps</a:t>
            </a:r>
          </a:p>
          <a:p>
            <a:pPr algn="l">
              <a:lnSpc>
                <a:spcPct val="110000"/>
              </a:lnSpc>
              <a:spcAft>
                <a:spcPts val="300"/>
              </a:spcAft>
            </a:pPr>
            <a:r>
              <a:rPr sz="2100" b="0" i="0">
                <a:solidFill>
                  <a:srgbClr val="1A1A1A"/>
                </a:solidFill>
                <a:latin typeface="Calibri"/>
              </a:rPr>
              <a:t>• The most surprising thing we learned</a:t>
            </a:r>
          </a:p>
        </p:txBody>
      </p:sp>
      <p:sp>
        <p:nvSpPr>
          <p:cNvPr id="75" name="TextBox 74"/>
          <p:cNvSpPr txBox="1"/>
          <p:nvPr/>
        </p:nvSpPr>
        <p:spPr>
          <a:xfrm>
            <a:off x="11201400" y="30934152"/>
            <a:ext cx="9784080" cy="1371600"/>
          </a:xfrm>
          <a:prstGeom prst="rect">
            <a:avLst/>
          </a:prstGeom>
          <a:noFill/>
        </p:spPr>
        <p:txBody>
          <a:bodyPr wrap="square" lIns="73152" rIns="73152" tIns="36576" bIns="36576">
            <a:spAutoFit/>
          </a:bodyPr>
          <a:lstStyle/>
          <a:p>
            <a:pPr algn="l">
              <a:lnSpc>
                <a:spcPct val="110000"/>
              </a:lnSpc>
              <a:spcAft>
                <a:spcPts val="300"/>
              </a:spcAft>
            </a:pPr>
            <a:r>
              <a:rPr sz="2100" b="0" i="0">
                <a:solidFill>
                  <a:srgbClr val="1A1A1A"/>
                </a:solidFill>
                <a:latin typeface="Calibri"/>
              </a:rPr>
              <a:t>FUTURE WORK</a:t>
            </a:r>
          </a:p>
          <a:p>
            <a:pPr algn="l">
              <a:lnSpc>
                <a:spcPct val="110000"/>
              </a:lnSpc>
              <a:spcAft>
                <a:spcPts val="300"/>
              </a:spcAft>
            </a:pPr>
            <a:r>
              <a:rPr sz="2100" b="0" i="0">
                <a:solidFill>
                  <a:srgbClr val="1A1A1A"/>
                </a:solidFill>
                <a:latin typeface="Calibri"/>
              </a:rPr>
              <a:t>• The improvement we would make first, and why</a:t>
            </a:r>
          </a:p>
          <a:p>
            <a:pPr algn="l">
              <a:lnSpc>
                <a:spcPct val="110000"/>
              </a:lnSpc>
              <a:spcAft>
                <a:spcPts val="300"/>
              </a:spcAft>
            </a:pPr>
            <a:r>
              <a:rPr sz="2100" b="0" i="0">
                <a:solidFill>
                  <a:srgbClr val="1A1A1A"/>
                </a:solidFill>
                <a:latin typeface="Calibri"/>
              </a:rPr>
              <a:t>• A capability we ran out of time for</a:t>
            </a:r>
          </a:p>
          <a:p>
            <a:pPr algn="l">
              <a:lnSpc>
                <a:spcPct val="110000"/>
              </a:lnSpc>
              <a:spcAft>
                <a:spcPts val="300"/>
              </a:spcAft>
            </a:pPr>
            <a:r>
              <a:rPr sz="2100" b="0" i="0">
                <a:solidFill>
                  <a:srgbClr val="1A1A1A"/>
                </a:solidFill>
                <a:latin typeface="Calibri"/>
              </a:rPr>
              <a:t>• How someone else could use or extend this</a:t>
            </a:r>
          </a:p>
        </p:txBody>
      </p:sp>
      <p:sp>
        <p:nvSpPr>
          <p:cNvPr id="76" name="TextBox 75"/>
          <p:cNvSpPr txBox="1"/>
          <p:nvPr/>
        </p:nvSpPr>
        <p:spPr>
          <a:xfrm>
            <a:off x="548640" y="32497776"/>
            <a:ext cx="20848320" cy="384048"/>
          </a:xfrm>
          <a:prstGeom prst="rect">
            <a:avLst/>
          </a:prstGeom>
          <a:noFill/>
        </p:spPr>
        <p:txBody>
          <a:bodyPr wrap="square" lIns="73152" rIns="73152" tIns="36576" bIns="36576">
            <a:spAutoFit/>
          </a:bodyPr>
          <a:lstStyle/>
          <a:p>
            <a:pPr algn="ctr">
              <a:lnSpc>
                <a:spcPct val="110000"/>
              </a:lnSpc>
              <a:spcAft>
                <a:spcPts val="0"/>
              </a:spcAft>
            </a:pPr>
            <a:r>
              <a:rPr sz="1500" b="0" i="0">
                <a:solidFill>
                  <a:srgbClr val="707070"/>
                </a:solidFill>
                <a:latin typeface="Calibri"/>
              </a:rPr>
              <a:t>ACKNOWLEDGMENTS: We thank the SDSC REHS program, the National Research Platform team, and our mentor.   Image credits: all figures and screenshots are our own unless credited beside the figure.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